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DA9C19-CF8B-454F-A4AE-7830AABF8F40}" v="310" dt="2026-09-14T18:45:24.884"/>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yush7518/seasonal-agricultural-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017462" y="3992171"/>
            <a:ext cx="7977248" cy="861497"/>
          </a:xfrm>
        </p:spPr>
        <p:txBody>
          <a:bodyPr vert="horz" lIns="91440" tIns="45720" rIns="91440" bIns="45720" rtlCol="0" anchor="t">
            <a:noAutofit/>
          </a:bodyPr>
          <a:lstStyle/>
          <a:p>
            <a:r>
              <a:rPr lang="en-US" sz="1800" dirty="0">
                <a:solidFill>
                  <a:schemeClr val="tx1"/>
                </a:solidFill>
              </a:rPr>
              <a:t>Student Name- AYUSH SHARMA </a:t>
            </a:r>
            <a:endParaRPr lang="en-IN" sz="1800" dirty="0">
              <a:solidFill>
                <a:schemeClr val="tx1"/>
              </a:solidFill>
            </a:endParaRPr>
          </a:p>
          <a:p>
            <a:r>
              <a:rPr lang="en-US" sz="1800" dirty="0">
                <a:solidFill>
                  <a:schemeClr val="tx1"/>
                </a:solidFill>
              </a:rPr>
              <a:t>College Name- TECHNOCRATS INSTITUTE OF TECHNOLOGY, BHOPAL</a:t>
            </a:r>
            <a:endParaRPr lang="en-IN" sz="180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017462" y="2811053"/>
            <a:ext cx="4998720" cy="743448"/>
          </a:xfrm>
        </p:spPr>
        <p:txBody>
          <a:bodyPr>
            <a:normAutofit/>
          </a:bodyPr>
          <a:lstStyle/>
          <a:p>
            <a:r>
              <a:rPr lang="en-GB" b="1" dirty="0">
                <a:latin typeface="+mj-lt"/>
              </a:rPr>
              <a:t>Project Title -</a:t>
            </a:r>
            <a:endParaRPr lang="en-IN" b="1" dirty="0">
              <a:latin typeface="+mj-lt"/>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3516822" y="2811053"/>
            <a:ext cx="7520473" cy="861497"/>
          </a:xfrm>
          <a:prstGeom prst="rect">
            <a:avLst/>
          </a:prstGeom>
        </p:spPr>
        <p:txBody>
          <a:bodyPr vert="horz" lIns="91440" tIns="45720" rIns="91440" bIns="45720" rtlCol="0">
            <a:no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800" dirty="0">
                <a:solidFill>
                  <a:schemeClr val="tx1"/>
                </a:solidFill>
              </a:rPr>
              <a:t>Seasonal Agriculture Performance Analysis</a:t>
            </a:r>
            <a:endParaRPr lang="en-GB" sz="2800" dirty="0">
              <a:solidFill>
                <a:schemeClr val="tx1"/>
              </a:solidFill>
            </a:endParaRPr>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017462" y="4858057"/>
            <a:ext cx="6833655" cy="369332"/>
          </a:xfrm>
          <a:prstGeom prst="rect">
            <a:avLst/>
          </a:prstGeom>
          <a:noFill/>
        </p:spPr>
        <p:txBody>
          <a:bodyPr wrap="square" rtlCol="0">
            <a:spAutoFit/>
          </a:bodyPr>
          <a:lstStyle/>
          <a:p>
            <a:r>
              <a:rPr lang="en-US" b="1" dirty="0"/>
              <a:t>AICTE STU ID : STU6a66c0a22a3af1785118882</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825276"/>
            <a:ext cx="6431280" cy="4646644"/>
          </a:xfrm>
        </p:spPr>
        <p:txBody>
          <a:bodyPr vert="horz" lIns="91440" tIns="45720" rIns="91440" bIns="45720" rtlCol="0" anchor="t">
            <a:normAutofit fontScale="77500" lnSpcReduction="20000"/>
          </a:bodyPr>
          <a:lstStyle/>
          <a:p>
            <a:pPr>
              <a:lnSpc>
                <a:spcPct val="100000"/>
              </a:lnSpc>
            </a:pPr>
            <a:r>
              <a:rPr lang="en-US" sz="2800" dirty="0">
                <a:solidFill>
                  <a:schemeClr val="tx1"/>
                </a:solidFill>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solidFill>
                <a:schemeClr val="tx1"/>
              </a:solidFill>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 :-</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510493" y="1147755"/>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1094462"/>
            <a:ext cx="6276109" cy="830997"/>
          </a:xfrm>
        </p:spPr>
        <p:txBody>
          <a:bodyPr>
            <a:noAutofit/>
          </a:bodyPr>
          <a:lstStyle/>
          <a:p>
            <a:r>
              <a:rPr lang="en-IN" sz="3600" dirty="0"/>
              <a:t>Project Description :-</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40C7FFCC-3D70-930D-1CAD-28A205D1C7A6}"/>
              </a:ext>
            </a:extLst>
          </p:cNvPr>
          <p:cNvSpPr txBox="1"/>
          <p:nvPr/>
        </p:nvSpPr>
        <p:spPr>
          <a:xfrm>
            <a:off x="467359" y="1925459"/>
            <a:ext cx="8711237" cy="4093428"/>
          </a:xfrm>
          <a:prstGeom prst="rect">
            <a:avLst/>
          </a:prstGeom>
          <a:noFill/>
        </p:spPr>
        <p:txBody>
          <a:bodyPr wrap="square" rtlCol="0">
            <a:spAutoFit/>
          </a:bodyPr>
          <a:lstStyle/>
          <a:p>
            <a:endParaRPr lang="en-US" sz="2000" b="1" dirty="0">
              <a:cs typeface="Times New Roman" panose="02020603050405020304" pitchFamily="18" charset="0"/>
            </a:endParaRPr>
          </a:p>
          <a:p>
            <a:r>
              <a:rPr lang="en-US" sz="2000" dirty="0">
                <a:cs typeface="Times New Roman" panose="02020603050405020304" pitchFamily="18" charset="0"/>
              </a:rPr>
              <a:t>This project analyzes </a:t>
            </a:r>
            <a:r>
              <a:rPr lang="en-US" sz="2000" b="1" dirty="0">
                <a:cs typeface="Times New Roman" panose="02020603050405020304" pitchFamily="18" charset="0"/>
              </a:rPr>
              <a:t>4,000 agricultural records across 28 variables</a:t>
            </a:r>
            <a:r>
              <a:rPr lang="en-US" sz="2000" dirty="0">
                <a:cs typeface="Times New Roman" panose="02020603050405020304" pitchFamily="18" charset="0"/>
              </a:rPr>
              <a:t> to understand how agricultural performance changes across </a:t>
            </a:r>
            <a:r>
              <a:rPr lang="en-US" sz="2000" b="1" dirty="0">
                <a:cs typeface="Times New Roman" panose="02020603050405020304" pitchFamily="18" charset="0"/>
              </a:rPr>
              <a:t>Kharif, Rabi and Zaid seasons</a:t>
            </a:r>
            <a:r>
              <a:rPr lang="en-US" sz="2000" dirty="0">
                <a:cs typeface="Times New Roman" panose="02020603050405020304" pitchFamily="18" charset="0"/>
              </a:rPr>
              <a:t>. The analysis covers crop performance, geographical factors, weather and soil conditions, irrigation, fertilizer and pesticide usage, water consumption, yield, revenue, cost and profit.</a:t>
            </a:r>
          </a:p>
          <a:p>
            <a:endParaRPr lang="en-US" sz="2000" dirty="0">
              <a:cs typeface="Times New Roman" panose="02020603050405020304" pitchFamily="18" charset="0"/>
            </a:endParaRPr>
          </a:p>
          <a:p>
            <a:r>
              <a:rPr lang="en-US" sz="2000" dirty="0">
                <a:cs typeface="Times New Roman" panose="02020603050405020304" pitchFamily="18" charset="0"/>
              </a:rPr>
              <a:t>Using </a:t>
            </a:r>
            <a:r>
              <a:rPr lang="en-US" sz="2000" b="1" dirty="0">
                <a:cs typeface="Times New Roman" panose="02020603050405020304" pitchFamily="18" charset="0"/>
              </a:rPr>
              <a:t>Python and statistical/data visualization techniques</a:t>
            </a:r>
            <a:r>
              <a:rPr lang="en-US" sz="2000" dirty="0">
                <a:cs typeface="Times New Roman" panose="02020603050405020304" pitchFamily="18" charset="0"/>
              </a:rPr>
              <a:t>, the project identifies seasonal patterns, crop-level differences, resource utilization trends, environmental relationships and profitability variations. </a:t>
            </a:r>
          </a:p>
          <a:p>
            <a:r>
              <a:rPr lang="en-US" sz="2000" dirty="0">
                <a:cs typeface="Times New Roman" panose="02020603050405020304" pitchFamily="18" charset="0"/>
              </a:rPr>
              <a:t>The findings are used to develop </a:t>
            </a:r>
            <a:r>
              <a:rPr lang="en-US" sz="2000" b="1" dirty="0">
                <a:cs typeface="Times New Roman" panose="02020603050405020304" pitchFamily="18" charset="0"/>
              </a:rPr>
              <a:t>data-driven recommendations for better crop planning, resource utilization and agricultural profitability</a:t>
            </a:r>
            <a:r>
              <a:rPr lang="en-US" sz="2000" dirty="0">
                <a:cs typeface="Times New Roman" panose="02020603050405020304" pitchFamily="18" charset="0"/>
              </a:rPr>
              <a:t>.</a:t>
            </a:r>
          </a:p>
          <a:p>
            <a:endParaRPr lang="en-US" sz="2000" dirty="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478763" y="897843"/>
            <a:ext cx="9253017" cy="1174075"/>
          </a:xfrm>
        </p:spPr>
        <p:txBody>
          <a:bodyPr>
            <a:noAutofit/>
          </a:bodyPr>
          <a:lstStyle/>
          <a:p>
            <a:pPr algn="just">
              <a:lnSpc>
                <a:spcPct val="100000"/>
              </a:lnSpc>
            </a:pPr>
            <a:r>
              <a:rPr lang="en-US" sz="1600" dirty="0">
                <a:cs typeface="Times New Roman" panose="02020603050405020304" pitchFamily="18" charset="0"/>
              </a:rPr>
              <a:t>The project provides data-driven insights into seasonal crop performance, resource usage, environmental conditions, and profitability. These insights can support farmers, agricultural planners, government departments, agribusinesses, researchers, and financial support organizations in making better agricultural decisions.</a:t>
            </a:r>
          </a:p>
          <a:p>
            <a:pPr algn="just">
              <a:lnSpc>
                <a:spcPct val="150000"/>
              </a:lnSpc>
            </a:pPr>
            <a:endParaRPr lang="en-IN" sz="1600" dirty="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478763" y="291145"/>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TextBox 2">
            <a:extLst>
              <a:ext uri="{FF2B5EF4-FFF2-40B4-BE49-F238E27FC236}">
                <a16:creationId xmlns:a16="http://schemas.microsoft.com/office/drawing/2014/main" id="{5BBF96B1-56B9-B1FF-1D79-6D4789AC8E09}"/>
              </a:ext>
            </a:extLst>
          </p:cNvPr>
          <p:cNvSpPr txBox="1"/>
          <p:nvPr/>
        </p:nvSpPr>
        <p:spPr>
          <a:xfrm>
            <a:off x="705887" y="2100432"/>
            <a:ext cx="8798768" cy="3970318"/>
          </a:xfrm>
          <a:prstGeom prst="rect">
            <a:avLst/>
          </a:prstGeom>
          <a:noFill/>
        </p:spPr>
        <p:txBody>
          <a:bodyPr wrap="square" rtlCol="0">
            <a:spAutoFit/>
          </a:bodyPr>
          <a:lstStyle/>
          <a:p>
            <a:endParaRPr lang="en-US" b="1" dirty="0">
              <a:cs typeface="Times New Roman" panose="02020603050405020304" pitchFamily="18" charset="0"/>
            </a:endParaRPr>
          </a:p>
          <a:p>
            <a:r>
              <a:rPr lang="en-US" dirty="0">
                <a:cs typeface="Times New Roman" panose="02020603050405020304" pitchFamily="18" charset="0"/>
              </a:rPr>
              <a:t>👨‍🌾 </a:t>
            </a:r>
            <a:r>
              <a:rPr lang="en-US" b="1" dirty="0">
                <a:cs typeface="Times New Roman" panose="02020603050405020304" pitchFamily="18" charset="0"/>
              </a:rPr>
              <a:t>Farmers &amp; Farm Owners</a:t>
            </a:r>
            <a:br>
              <a:rPr lang="en-US" dirty="0">
                <a:cs typeface="Times New Roman" panose="02020603050405020304" pitchFamily="18" charset="0"/>
              </a:rPr>
            </a:br>
            <a:r>
              <a:rPr lang="en-US" dirty="0">
                <a:cs typeface="Times New Roman" panose="02020603050405020304" pitchFamily="18" charset="0"/>
              </a:rPr>
              <a:t>Crop selection • Yield • Profitability</a:t>
            </a:r>
          </a:p>
          <a:p>
            <a:r>
              <a:rPr lang="en-US" dirty="0">
                <a:cs typeface="Times New Roman" panose="02020603050405020304" pitchFamily="18" charset="0"/>
              </a:rPr>
              <a:t>🌾 </a:t>
            </a:r>
            <a:r>
              <a:rPr lang="en-US" b="1" dirty="0">
                <a:cs typeface="Times New Roman" panose="02020603050405020304" pitchFamily="18" charset="0"/>
              </a:rPr>
              <a:t>Agricultural Consultants</a:t>
            </a:r>
            <a:br>
              <a:rPr lang="en-US" dirty="0">
                <a:cs typeface="Times New Roman" panose="02020603050405020304" pitchFamily="18" charset="0"/>
              </a:rPr>
            </a:br>
            <a:r>
              <a:rPr lang="en-US" dirty="0">
                <a:cs typeface="Times New Roman" panose="02020603050405020304" pitchFamily="18" charset="0"/>
              </a:rPr>
              <a:t>Seasonal trends • Crop planning • Farming strategies</a:t>
            </a:r>
          </a:p>
          <a:p>
            <a:r>
              <a:rPr lang="en-US" dirty="0">
                <a:cs typeface="Times New Roman" panose="02020603050405020304" pitchFamily="18" charset="0"/>
              </a:rPr>
              <a:t>🏛️ </a:t>
            </a:r>
            <a:r>
              <a:rPr lang="en-US" b="1" dirty="0">
                <a:cs typeface="Times New Roman" panose="02020603050405020304" pitchFamily="18" charset="0"/>
              </a:rPr>
              <a:t>Government Departments</a:t>
            </a:r>
            <a:br>
              <a:rPr lang="en-US" dirty="0">
                <a:cs typeface="Times New Roman" panose="02020603050405020304" pitchFamily="18" charset="0"/>
              </a:rPr>
            </a:br>
            <a:r>
              <a:rPr lang="en-US" dirty="0">
                <a:cs typeface="Times New Roman" panose="02020603050405020304" pitchFamily="18" charset="0"/>
              </a:rPr>
              <a:t>Resource planning • Agricultural policies • Regional analysis</a:t>
            </a:r>
          </a:p>
          <a:p>
            <a:r>
              <a:rPr lang="en-US" dirty="0">
                <a:cs typeface="Times New Roman" panose="02020603050405020304" pitchFamily="18" charset="0"/>
              </a:rPr>
              <a:t>🏢 </a:t>
            </a:r>
            <a:r>
              <a:rPr lang="en-US" b="1" dirty="0">
                <a:cs typeface="Times New Roman" panose="02020603050405020304" pitchFamily="18" charset="0"/>
              </a:rPr>
              <a:t>Agribusiness &amp; Agri-Companies</a:t>
            </a:r>
            <a:br>
              <a:rPr lang="en-US" dirty="0">
                <a:cs typeface="Times New Roman" panose="02020603050405020304" pitchFamily="18" charset="0"/>
              </a:rPr>
            </a:br>
            <a:r>
              <a:rPr lang="en-US" dirty="0">
                <a:cs typeface="Times New Roman" panose="02020603050405020304" pitchFamily="18" charset="0"/>
              </a:rPr>
              <a:t>Market trends • Inputs • Production decisions</a:t>
            </a:r>
          </a:p>
          <a:p>
            <a:r>
              <a:rPr lang="en-US" dirty="0">
                <a:cs typeface="Times New Roman" panose="02020603050405020304" pitchFamily="18" charset="0"/>
              </a:rPr>
              <a:t>🔬 </a:t>
            </a:r>
            <a:r>
              <a:rPr lang="en-US" b="1" dirty="0">
                <a:cs typeface="Times New Roman" panose="02020603050405020304" pitchFamily="18" charset="0"/>
              </a:rPr>
              <a:t>Researchers &amp; Data Analysts</a:t>
            </a:r>
            <a:br>
              <a:rPr lang="en-US" dirty="0">
                <a:cs typeface="Times New Roman" panose="02020603050405020304" pitchFamily="18" charset="0"/>
              </a:rPr>
            </a:br>
            <a:r>
              <a:rPr lang="en-US" dirty="0">
                <a:cs typeface="Times New Roman" panose="02020603050405020304" pitchFamily="18" charset="0"/>
              </a:rPr>
              <a:t>Patterns • Relationships • Agricultural research</a:t>
            </a:r>
          </a:p>
          <a:p>
            <a:r>
              <a:rPr lang="en-US" dirty="0">
                <a:cs typeface="Times New Roman" panose="02020603050405020304" pitchFamily="18" charset="0"/>
              </a:rPr>
              <a:t>💰 </a:t>
            </a:r>
            <a:r>
              <a:rPr lang="en-US" b="1" dirty="0">
                <a:cs typeface="Times New Roman" panose="02020603050405020304" pitchFamily="18" charset="0"/>
              </a:rPr>
              <a:t>Financial &amp; Support Organizations</a:t>
            </a:r>
            <a:br>
              <a:rPr lang="en-US" dirty="0">
                <a:cs typeface="Times New Roman" panose="02020603050405020304" pitchFamily="18" charset="0"/>
              </a:rPr>
            </a:br>
            <a:r>
              <a:rPr lang="en-US" dirty="0">
                <a:cs typeface="Times New Roman" panose="02020603050405020304" pitchFamily="18" charset="0"/>
              </a:rPr>
              <a:t>Cost analysis • Profitability • Farming support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27992" y="3847976"/>
            <a:ext cx="1430292"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33009" y="1026367"/>
            <a:ext cx="8697400" cy="5680186"/>
          </a:xfrm>
        </p:spPr>
        <p:txBody>
          <a:bodyPr>
            <a:normAutofit/>
          </a:bodyPr>
          <a:lstStyle/>
          <a:p>
            <a:pPr marL="0" indent="0">
              <a:buNone/>
            </a:pPr>
            <a:endParaRPr lang="en-US" sz="1400" b="1" dirty="0"/>
          </a:p>
          <a:p>
            <a:r>
              <a:rPr lang="en-US" sz="1400" dirty="0"/>
              <a:t>🐍 </a:t>
            </a:r>
            <a:r>
              <a:rPr lang="en-US" sz="1400" b="1" dirty="0"/>
              <a:t>Python</a:t>
            </a:r>
            <a:r>
              <a:rPr lang="en-US" sz="1400" dirty="0"/>
              <a:t> </a:t>
            </a:r>
            <a:r>
              <a:rPr lang="en-US" sz="1400" b="1" dirty="0"/>
              <a:t>:-</a:t>
            </a:r>
            <a:r>
              <a:rPr lang="en-US" sz="1400" dirty="0"/>
              <a:t> Used as the primary programming language for data analysis, processing, calculations, and visualization.</a:t>
            </a:r>
          </a:p>
          <a:p>
            <a:r>
              <a:rPr lang="en-US" sz="1400" dirty="0"/>
              <a:t>📊 </a:t>
            </a:r>
            <a:r>
              <a:rPr lang="en-US" sz="1400" b="1" dirty="0"/>
              <a:t>Pandas &amp; NumPy</a:t>
            </a:r>
            <a:r>
              <a:rPr lang="en-US" sz="1400" dirty="0"/>
              <a:t> </a:t>
            </a:r>
            <a:r>
              <a:rPr lang="en-US" sz="1400" b="1" dirty="0"/>
              <a:t>:-</a:t>
            </a:r>
            <a:r>
              <a:rPr lang="en-US" sz="1400" dirty="0"/>
              <a:t> Used for data loading, cleaning, missing-value handling, data transformation, statistical calculations, and creating derived variables.</a:t>
            </a:r>
          </a:p>
          <a:p>
            <a:r>
              <a:rPr lang="en-US" sz="1400" dirty="0"/>
              <a:t>📈 </a:t>
            </a:r>
            <a:r>
              <a:rPr lang="en-US" sz="1400" b="1" dirty="0"/>
              <a:t>Matplotlib &amp; Seaborn :- </a:t>
            </a:r>
            <a:r>
              <a:rPr lang="en-US" sz="1400" dirty="0"/>
              <a:t>Used to create charts and visualizations such as bar charts, heatmaps, scatter plots, box plots, and trend comparisons.</a:t>
            </a:r>
          </a:p>
          <a:p>
            <a:r>
              <a:rPr lang="en-US" sz="1400" dirty="0"/>
              <a:t>📓 </a:t>
            </a:r>
            <a:r>
              <a:rPr lang="en-US" sz="1400" b="1" dirty="0"/>
              <a:t>Jupyter Notebook :- </a:t>
            </a:r>
            <a:r>
              <a:rPr lang="en-US" sz="1400" dirty="0"/>
              <a:t>Used as the main environment for executing Python code, documenting the analysis, and presenting findings step-by-step.</a:t>
            </a:r>
          </a:p>
          <a:p>
            <a:r>
              <a:rPr lang="en-US" sz="1400" dirty="0"/>
              <a:t>🧮 </a:t>
            </a:r>
            <a:r>
              <a:rPr lang="en-US" sz="1400" b="1" dirty="0"/>
              <a:t>Statistical Analysis :- </a:t>
            </a:r>
            <a:r>
              <a:rPr lang="en-US" sz="1400" dirty="0"/>
              <a:t>Used to examine seasonal variations, relationships, correlations, outliers, and differences between crops, regions, resources, and economic outcomes.</a:t>
            </a:r>
          </a:p>
          <a:p>
            <a:r>
              <a:rPr lang="en-US" sz="1400" dirty="0"/>
              <a:t>📁 </a:t>
            </a:r>
            <a:r>
              <a:rPr lang="en-US" sz="1400" b="1" dirty="0"/>
              <a:t>CSV Dataset :- </a:t>
            </a:r>
            <a:r>
              <a:rPr lang="en-US" sz="1400" dirty="0"/>
              <a:t>Used as the primary data source containing </a:t>
            </a:r>
            <a:r>
              <a:rPr lang="en-US" sz="1400" b="1" dirty="0"/>
              <a:t>4,000 agricultural records and 28 variables</a:t>
            </a:r>
            <a:r>
              <a:rPr lang="en-US" sz="1400" dirty="0"/>
              <a:t> covering seasons, crops, environmental conditions, resources, yield, revenue, costs, and profit.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333009" y="493025"/>
            <a:ext cx="5068597" cy="717098"/>
          </a:xfrm>
        </p:spPr>
        <p:txBody>
          <a:bodyPr>
            <a:normAutofit/>
          </a:bodyPr>
          <a:lstStyle/>
          <a:p>
            <a:r>
              <a:rPr lang="en-US" sz="4000"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fade">
                                      <p:cBhvr>
                                        <p:cTn id="42" dur="1000"/>
                                        <p:tgtEl>
                                          <p:spTgt spid="7">
                                            <p:txEl>
                                              <p:pRg st="5" end="5"/>
                                            </p:txEl>
                                          </p:spTgt>
                                        </p:tgtEl>
                                      </p:cBhvr>
                                    </p:animEffect>
                                    <p:anim calcmode="lin" valueType="num">
                                      <p:cBhvr>
                                        <p:cTn id="4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6" end="6"/>
                                            </p:txEl>
                                          </p:spTgt>
                                        </p:tgtEl>
                                        <p:attrNameLst>
                                          <p:attrName>style.visibility</p:attrName>
                                        </p:attrNameLst>
                                      </p:cBhvr>
                                      <p:to>
                                        <p:strVal val="visible"/>
                                      </p:to>
                                    </p:set>
                                    <p:animEffect transition="in" filter="fade">
                                      <p:cBhvr>
                                        <p:cTn id="49" dur="1000"/>
                                        <p:tgtEl>
                                          <p:spTgt spid="7">
                                            <p:txEl>
                                              <p:pRg st="6" end="6"/>
                                            </p:txEl>
                                          </p:spTgt>
                                        </p:tgtEl>
                                      </p:cBhvr>
                                    </p:animEffect>
                                    <p:anim calcmode="lin" valueType="num">
                                      <p:cBhvr>
                                        <p:cTn id="5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320982" y="210308"/>
            <a:ext cx="1899291" cy="666078"/>
          </a:xfrm>
        </p:spPr>
        <p:txBody>
          <a:bodyPr>
            <a:normAutofit/>
          </a:bodyPr>
          <a:lstStyle/>
          <a:p>
            <a:r>
              <a:rPr lang="en-GB" sz="2000" b="0" dirty="0"/>
              <a:t>RESULTS</a:t>
            </a:r>
            <a:r>
              <a:rPr lang="en-GB" sz="2000" dirty="0"/>
              <a:t> </a:t>
            </a:r>
            <a:endParaRPr lang="en-IN" sz="200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C5818623-EC59-8D76-BAC6-A4B1A14974F3}"/>
              </a:ext>
            </a:extLst>
          </p:cNvPr>
          <p:cNvSpPr txBox="1"/>
          <p:nvPr/>
        </p:nvSpPr>
        <p:spPr>
          <a:xfrm>
            <a:off x="320982" y="813706"/>
            <a:ext cx="6272551" cy="461665"/>
          </a:xfrm>
          <a:prstGeom prst="rect">
            <a:avLst/>
          </a:prstGeom>
          <a:noFill/>
        </p:spPr>
        <p:txBody>
          <a:bodyPr wrap="none" rtlCol="0">
            <a:spAutoFit/>
          </a:bodyPr>
          <a:lstStyle/>
          <a:p>
            <a:r>
              <a:rPr lang="en-US" sz="2400" b="1" dirty="0"/>
              <a:t>Seasonal Agriculture Performance Analysis</a:t>
            </a:r>
          </a:p>
        </p:txBody>
      </p:sp>
      <p:graphicFrame>
        <p:nvGraphicFramePr>
          <p:cNvPr id="6" name="Table 5">
            <a:extLst>
              <a:ext uri="{FF2B5EF4-FFF2-40B4-BE49-F238E27FC236}">
                <a16:creationId xmlns:a16="http://schemas.microsoft.com/office/drawing/2014/main" id="{8C69575A-A155-3E4D-D2A1-5724927A310A}"/>
              </a:ext>
            </a:extLst>
          </p:cNvPr>
          <p:cNvGraphicFramePr>
            <a:graphicFrameLocks noGrp="1"/>
          </p:cNvGraphicFramePr>
          <p:nvPr>
            <p:extLst>
              <p:ext uri="{D42A27DB-BD31-4B8C-83A1-F6EECF244321}">
                <p14:modId xmlns:p14="http://schemas.microsoft.com/office/powerpoint/2010/main" val="3718598737"/>
              </p:ext>
            </p:extLst>
          </p:nvPr>
        </p:nvGraphicFramePr>
        <p:xfrm>
          <a:off x="675957" y="2033783"/>
          <a:ext cx="4752554" cy="2194560"/>
        </p:xfrm>
        <a:graphic>
          <a:graphicData uri="http://schemas.openxmlformats.org/drawingml/2006/table">
            <a:tbl>
              <a:tblPr>
                <a:tableStyleId>{0505E3EF-67EA-436B-97B2-0124C06EBD24}</a:tableStyleId>
              </a:tblPr>
              <a:tblGrid>
                <a:gridCol w="2376277">
                  <a:extLst>
                    <a:ext uri="{9D8B030D-6E8A-4147-A177-3AD203B41FA5}">
                      <a16:colId xmlns:a16="http://schemas.microsoft.com/office/drawing/2014/main" val="2978408499"/>
                    </a:ext>
                  </a:extLst>
                </a:gridCol>
                <a:gridCol w="2376277">
                  <a:extLst>
                    <a:ext uri="{9D8B030D-6E8A-4147-A177-3AD203B41FA5}">
                      <a16:colId xmlns:a16="http://schemas.microsoft.com/office/drawing/2014/main" val="643917809"/>
                    </a:ext>
                  </a:extLst>
                </a:gridCol>
              </a:tblGrid>
              <a:tr h="270827">
                <a:tc>
                  <a:txBody>
                    <a:bodyPr/>
                    <a:lstStyle/>
                    <a:p>
                      <a:pPr>
                        <a:buNone/>
                      </a:pPr>
                      <a:r>
                        <a:rPr lang="en-US"/>
                        <a:t>KPI</a:t>
                      </a:r>
                    </a:p>
                  </a:txBody>
                  <a:tcPr anchor="ctr"/>
                </a:tc>
                <a:tc>
                  <a:txBody>
                    <a:bodyPr/>
                    <a:lstStyle/>
                    <a:p>
                      <a:pPr algn="r">
                        <a:buNone/>
                      </a:pPr>
                      <a:r>
                        <a:rPr lang="en-US"/>
                        <a:t>Result</a:t>
                      </a:r>
                    </a:p>
                  </a:txBody>
                  <a:tcPr anchor="ctr"/>
                </a:tc>
                <a:extLst>
                  <a:ext uri="{0D108BD9-81ED-4DB2-BD59-A6C34878D82A}">
                    <a16:rowId xmlns:a16="http://schemas.microsoft.com/office/drawing/2014/main" val="1796256185"/>
                  </a:ext>
                </a:extLst>
              </a:tr>
              <a:tr h="270827">
                <a:tc>
                  <a:txBody>
                    <a:bodyPr/>
                    <a:lstStyle/>
                    <a:p>
                      <a:pPr>
                        <a:buNone/>
                      </a:pPr>
                      <a:r>
                        <a:rPr lang="en-US"/>
                        <a:t>Total Records</a:t>
                      </a:r>
                    </a:p>
                  </a:txBody>
                  <a:tcPr anchor="ctr"/>
                </a:tc>
                <a:tc>
                  <a:txBody>
                    <a:bodyPr/>
                    <a:lstStyle/>
                    <a:p>
                      <a:pPr algn="r">
                        <a:buNone/>
                      </a:pPr>
                      <a:r>
                        <a:rPr lang="en-US" dirty="0"/>
                        <a:t>4,000</a:t>
                      </a:r>
                    </a:p>
                  </a:txBody>
                  <a:tcPr anchor="ctr"/>
                </a:tc>
                <a:extLst>
                  <a:ext uri="{0D108BD9-81ED-4DB2-BD59-A6C34878D82A}">
                    <a16:rowId xmlns:a16="http://schemas.microsoft.com/office/drawing/2014/main" val="3473952233"/>
                  </a:ext>
                </a:extLst>
              </a:tr>
              <a:tr h="270827">
                <a:tc>
                  <a:txBody>
                    <a:bodyPr/>
                    <a:lstStyle/>
                    <a:p>
                      <a:pPr>
                        <a:buNone/>
                      </a:pPr>
                      <a:r>
                        <a:rPr lang="en-US"/>
                        <a:t>Seasons Analyzed</a:t>
                      </a:r>
                    </a:p>
                  </a:txBody>
                  <a:tcPr anchor="ctr"/>
                </a:tc>
                <a:tc>
                  <a:txBody>
                    <a:bodyPr/>
                    <a:lstStyle/>
                    <a:p>
                      <a:pPr algn="r">
                        <a:buNone/>
                      </a:pPr>
                      <a:r>
                        <a:rPr lang="en-US"/>
                        <a:t>3</a:t>
                      </a:r>
                    </a:p>
                  </a:txBody>
                  <a:tcPr anchor="ctr"/>
                </a:tc>
                <a:extLst>
                  <a:ext uri="{0D108BD9-81ED-4DB2-BD59-A6C34878D82A}">
                    <a16:rowId xmlns:a16="http://schemas.microsoft.com/office/drawing/2014/main" val="2735614099"/>
                  </a:ext>
                </a:extLst>
              </a:tr>
              <a:tr h="270827">
                <a:tc>
                  <a:txBody>
                    <a:bodyPr/>
                    <a:lstStyle/>
                    <a:p>
                      <a:pPr>
                        <a:buNone/>
                      </a:pPr>
                      <a:r>
                        <a:rPr lang="en-US"/>
                        <a:t>Highest Avg. Yield</a:t>
                      </a:r>
                    </a:p>
                  </a:txBody>
                  <a:tcPr anchor="ctr"/>
                </a:tc>
                <a:tc>
                  <a:txBody>
                    <a:bodyPr/>
                    <a:lstStyle/>
                    <a:p>
                      <a:pPr algn="r">
                        <a:buNone/>
                      </a:pPr>
                      <a:r>
                        <a:rPr lang="en-US" dirty="0"/>
                        <a:t>Kharif - 5.63 t/ha</a:t>
                      </a:r>
                    </a:p>
                  </a:txBody>
                  <a:tcPr anchor="ctr"/>
                </a:tc>
                <a:extLst>
                  <a:ext uri="{0D108BD9-81ED-4DB2-BD59-A6C34878D82A}">
                    <a16:rowId xmlns:a16="http://schemas.microsoft.com/office/drawing/2014/main" val="2806246911"/>
                  </a:ext>
                </a:extLst>
              </a:tr>
              <a:tr h="270827">
                <a:tc>
                  <a:txBody>
                    <a:bodyPr/>
                    <a:lstStyle/>
                    <a:p>
                      <a:pPr>
                        <a:buNone/>
                      </a:pPr>
                      <a:r>
                        <a:rPr lang="en-US"/>
                        <a:t>Highest Avg. Profit</a:t>
                      </a:r>
                    </a:p>
                  </a:txBody>
                  <a:tcPr anchor="ctr"/>
                </a:tc>
                <a:tc>
                  <a:txBody>
                    <a:bodyPr/>
                    <a:lstStyle/>
                    <a:p>
                      <a:pPr algn="r">
                        <a:buNone/>
                      </a:pPr>
                      <a:r>
                        <a:rPr lang="en-US" dirty="0"/>
                        <a:t>Kharif - ₹178,915</a:t>
                      </a:r>
                    </a:p>
                  </a:txBody>
                  <a:tcPr anchor="ctr"/>
                </a:tc>
                <a:extLst>
                  <a:ext uri="{0D108BD9-81ED-4DB2-BD59-A6C34878D82A}">
                    <a16:rowId xmlns:a16="http://schemas.microsoft.com/office/drawing/2014/main" val="1289020429"/>
                  </a:ext>
                </a:extLst>
              </a:tr>
              <a:tr h="270827">
                <a:tc>
                  <a:txBody>
                    <a:bodyPr/>
                    <a:lstStyle/>
                    <a:p>
                      <a:pPr>
                        <a:buNone/>
                      </a:pPr>
                      <a:r>
                        <a:rPr lang="en-US"/>
                        <a:t>Lowest Avg. Profit</a:t>
                      </a:r>
                    </a:p>
                  </a:txBody>
                  <a:tcPr anchor="ctr"/>
                </a:tc>
                <a:tc>
                  <a:txBody>
                    <a:bodyPr/>
                    <a:lstStyle/>
                    <a:p>
                      <a:pPr algn="r">
                        <a:buNone/>
                      </a:pPr>
                      <a:r>
                        <a:rPr lang="en-US" dirty="0"/>
                        <a:t>Zaid </a:t>
                      </a:r>
                      <a:r>
                        <a:rPr lang="en-US"/>
                        <a:t>–     ₹</a:t>
                      </a:r>
                      <a:r>
                        <a:rPr lang="en-US" dirty="0"/>
                        <a:t>24,805</a:t>
                      </a:r>
                    </a:p>
                  </a:txBody>
                  <a:tcPr anchor="ctr"/>
                </a:tc>
                <a:extLst>
                  <a:ext uri="{0D108BD9-81ED-4DB2-BD59-A6C34878D82A}">
                    <a16:rowId xmlns:a16="http://schemas.microsoft.com/office/drawing/2014/main" val="1485272748"/>
                  </a:ext>
                </a:extLst>
              </a:tr>
            </a:tbl>
          </a:graphicData>
        </a:graphic>
      </p:graphicFrame>
      <p:sp>
        <p:nvSpPr>
          <p:cNvPr id="9" name="TextBox 8">
            <a:extLst>
              <a:ext uri="{FF2B5EF4-FFF2-40B4-BE49-F238E27FC236}">
                <a16:creationId xmlns:a16="http://schemas.microsoft.com/office/drawing/2014/main" id="{D07E95B2-7316-A6F0-E9D8-34DA9F2B27CA}"/>
              </a:ext>
            </a:extLst>
          </p:cNvPr>
          <p:cNvSpPr txBox="1"/>
          <p:nvPr/>
        </p:nvSpPr>
        <p:spPr>
          <a:xfrm>
            <a:off x="320983" y="5259463"/>
            <a:ext cx="8739042" cy="923330"/>
          </a:xfrm>
          <a:prstGeom prst="rect">
            <a:avLst/>
          </a:prstGeom>
          <a:noFill/>
        </p:spPr>
        <p:txBody>
          <a:bodyPr wrap="square" rtlCol="0">
            <a:spAutoFit/>
          </a:bodyPr>
          <a:lstStyle/>
          <a:p>
            <a:r>
              <a:rPr lang="en-US" dirty="0"/>
              <a:t>Kharif demonstrates the strongest overall agricultural and economic performance, while Zaid shows comparatively lower yield, lower water efficiency and negative average profitability.</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AF525896-4C24-6E5E-BE90-31C296DF8EA1}"/>
              </a:ext>
            </a:extLst>
          </p:cNvPr>
          <p:cNvPicPr>
            <a:picLocks noChangeAspect="1"/>
          </p:cNvPicPr>
          <p:nvPr/>
        </p:nvPicPr>
        <p:blipFill>
          <a:blip r:embed="rId3"/>
          <a:stretch>
            <a:fillRect/>
          </a:stretch>
        </p:blipFill>
        <p:spPr>
          <a:xfrm>
            <a:off x="146173" y="768995"/>
            <a:ext cx="3642826" cy="2344907"/>
          </a:xfrm>
          <a:prstGeom prst="rect">
            <a:avLst/>
          </a:prstGeom>
        </p:spPr>
      </p:pic>
      <p:pic>
        <p:nvPicPr>
          <p:cNvPr id="11" name="Picture 10">
            <a:extLst>
              <a:ext uri="{FF2B5EF4-FFF2-40B4-BE49-F238E27FC236}">
                <a16:creationId xmlns:a16="http://schemas.microsoft.com/office/drawing/2014/main" id="{5AB15C60-1FDD-0FC2-4F9C-E37DA479D3FB}"/>
              </a:ext>
            </a:extLst>
          </p:cNvPr>
          <p:cNvPicPr>
            <a:picLocks noChangeAspect="1"/>
          </p:cNvPicPr>
          <p:nvPr/>
        </p:nvPicPr>
        <p:blipFill>
          <a:blip r:embed="rId4"/>
          <a:stretch>
            <a:fillRect/>
          </a:stretch>
        </p:blipFill>
        <p:spPr>
          <a:xfrm>
            <a:off x="3921900" y="849022"/>
            <a:ext cx="4938565" cy="2264880"/>
          </a:xfrm>
          <a:prstGeom prst="rect">
            <a:avLst/>
          </a:prstGeom>
        </p:spPr>
      </p:pic>
      <p:sp>
        <p:nvSpPr>
          <p:cNvPr id="17" name="TextBox 16">
            <a:extLst>
              <a:ext uri="{FF2B5EF4-FFF2-40B4-BE49-F238E27FC236}">
                <a16:creationId xmlns:a16="http://schemas.microsoft.com/office/drawing/2014/main" id="{C02D9F0D-30A1-16C0-F91F-1D200EF1338F}"/>
              </a:ext>
            </a:extLst>
          </p:cNvPr>
          <p:cNvSpPr txBox="1"/>
          <p:nvPr/>
        </p:nvSpPr>
        <p:spPr>
          <a:xfrm>
            <a:off x="357201" y="6251512"/>
            <a:ext cx="9160023" cy="307777"/>
          </a:xfrm>
          <a:prstGeom prst="rect">
            <a:avLst/>
          </a:prstGeom>
          <a:noFill/>
        </p:spPr>
        <p:txBody>
          <a:bodyPr wrap="square" rtlCol="0">
            <a:spAutoFit/>
          </a:bodyPr>
          <a:lstStyle/>
          <a:p>
            <a:r>
              <a:rPr lang="en-US" sz="1400" dirty="0"/>
              <a:t>Kharif leads in yield, production and profitability, while Zaid records the weakest overall performance.</a:t>
            </a:r>
          </a:p>
        </p:txBody>
      </p:sp>
      <p:pic>
        <p:nvPicPr>
          <p:cNvPr id="19" name="Picture 18">
            <a:extLst>
              <a:ext uri="{FF2B5EF4-FFF2-40B4-BE49-F238E27FC236}">
                <a16:creationId xmlns:a16="http://schemas.microsoft.com/office/drawing/2014/main" id="{6F7847AC-5A44-8BC0-E530-7C41C465C431}"/>
              </a:ext>
            </a:extLst>
          </p:cNvPr>
          <p:cNvPicPr>
            <a:picLocks noChangeAspect="1"/>
          </p:cNvPicPr>
          <p:nvPr/>
        </p:nvPicPr>
        <p:blipFill>
          <a:blip r:embed="rId5"/>
          <a:stretch>
            <a:fillRect/>
          </a:stretch>
        </p:blipFill>
        <p:spPr>
          <a:xfrm>
            <a:off x="8322906" y="743351"/>
            <a:ext cx="3548111" cy="2298429"/>
          </a:xfrm>
          <a:prstGeom prst="rect">
            <a:avLst/>
          </a:prstGeom>
        </p:spPr>
      </p:pic>
      <p:sp>
        <p:nvSpPr>
          <p:cNvPr id="23" name="Title 22">
            <a:extLst>
              <a:ext uri="{FF2B5EF4-FFF2-40B4-BE49-F238E27FC236}">
                <a16:creationId xmlns:a16="http://schemas.microsoft.com/office/drawing/2014/main" id="{2A62C537-9F41-D2B6-EFF2-8EE4937EB67B}"/>
              </a:ext>
            </a:extLst>
          </p:cNvPr>
          <p:cNvSpPr>
            <a:spLocks noGrp="1"/>
          </p:cNvSpPr>
          <p:nvPr>
            <p:ph type="title"/>
          </p:nvPr>
        </p:nvSpPr>
        <p:spPr>
          <a:xfrm>
            <a:off x="357201" y="109616"/>
            <a:ext cx="6365551" cy="830997"/>
          </a:xfrm>
        </p:spPr>
        <p:txBody>
          <a:bodyPr>
            <a:noAutofit/>
          </a:bodyPr>
          <a:lstStyle/>
          <a:p>
            <a:r>
              <a:rPr lang="en-US" sz="2000" dirty="0"/>
              <a:t>Seasonal Performance</a:t>
            </a:r>
            <a:br>
              <a:rPr lang="en-US" sz="2000" dirty="0"/>
            </a:br>
            <a:endParaRPr lang="en-US" sz="2000" dirty="0"/>
          </a:p>
        </p:txBody>
      </p:sp>
      <p:pic>
        <p:nvPicPr>
          <p:cNvPr id="25" name="Picture 24">
            <a:extLst>
              <a:ext uri="{FF2B5EF4-FFF2-40B4-BE49-F238E27FC236}">
                <a16:creationId xmlns:a16="http://schemas.microsoft.com/office/drawing/2014/main" id="{FD475623-8B7F-1C36-DF25-B18EC00E9B1F}"/>
              </a:ext>
            </a:extLst>
          </p:cNvPr>
          <p:cNvPicPr>
            <a:picLocks noChangeAspect="1"/>
          </p:cNvPicPr>
          <p:nvPr/>
        </p:nvPicPr>
        <p:blipFill>
          <a:blip r:embed="rId6"/>
          <a:stretch>
            <a:fillRect/>
          </a:stretch>
        </p:blipFill>
        <p:spPr>
          <a:xfrm>
            <a:off x="8352497" y="3147451"/>
            <a:ext cx="3518520" cy="3091239"/>
          </a:xfrm>
          <a:prstGeom prst="rect">
            <a:avLst/>
          </a:prstGeom>
        </p:spPr>
      </p:pic>
      <p:pic>
        <p:nvPicPr>
          <p:cNvPr id="27" name="Picture 26">
            <a:extLst>
              <a:ext uri="{FF2B5EF4-FFF2-40B4-BE49-F238E27FC236}">
                <a16:creationId xmlns:a16="http://schemas.microsoft.com/office/drawing/2014/main" id="{2D87049E-ACF1-B12E-EED7-76133D77DCEB}"/>
              </a:ext>
            </a:extLst>
          </p:cNvPr>
          <p:cNvPicPr>
            <a:picLocks noChangeAspect="1"/>
          </p:cNvPicPr>
          <p:nvPr/>
        </p:nvPicPr>
        <p:blipFill>
          <a:blip r:embed="rId7"/>
          <a:srcRect r="32629"/>
          <a:stretch>
            <a:fillRect/>
          </a:stretch>
        </p:blipFill>
        <p:spPr>
          <a:xfrm>
            <a:off x="0" y="3126723"/>
            <a:ext cx="3839505" cy="3111967"/>
          </a:xfrm>
          <a:prstGeom prst="rect">
            <a:avLst/>
          </a:prstGeom>
        </p:spPr>
      </p:pic>
      <p:pic>
        <p:nvPicPr>
          <p:cNvPr id="29" name="Picture 28">
            <a:extLst>
              <a:ext uri="{FF2B5EF4-FFF2-40B4-BE49-F238E27FC236}">
                <a16:creationId xmlns:a16="http://schemas.microsoft.com/office/drawing/2014/main" id="{27C9EB41-5DE4-6574-D5B9-38631F7D2B2B}"/>
              </a:ext>
            </a:extLst>
          </p:cNvPr>
          <p:cNvPicPr>
            <a:picLocks noChangeAspect="1"/>
          </p:cNvPicPr>
          <p:nvPr/>
        </p:nvPicPr>
        <p:blipFill>
          <a:blip r:embed="rId8"/>
          <a:srcRect r="58332"/>
          <a:stretch>
            <a:fillRect/>
          </a:stretch>
        </p:blipFill>
        <p:spPr>
          <a:xfrm>
            <a:off x="3664543" y="3219573"/>
            <a:ext cx="4588417" cy="292626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320982" y="193040"/>
            <a:ext cx="1087529" cy="301215"/>
          </a:xfrm>
        </p:spPr>
        <p:txBody>
          <a:bodyPr>
            <a:normAutofit/>
          </a:bodyPr>
          <a:lstStyle/>
          <a:p>
            <a:r>
              <a:rPr lang="en-GB" sz="600" b="0" dirty="0"/>
              <a:t>RESULTS</a:t>
            </a:r>
            <a:endParaRPr lang="en-IN" sz="600" b="0"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A7B7687E-2BB4-53C4-F9CF-CB45F336EB8F}"/>
              </a:ext>
            </a:extLst>
          </p:cNvPr>
          <p:cNvSpPr txBox="1"/>
          <p:nvPr/>
        </p:nvSpPr>
        <p:spPr>
          <a:xfrm>
            <a:off x="246522" y="392523"/>
            <a:ext cx="4866838" cy="400110"/>
          </a:xfrm>
          <a:prstGeom prst="rect">
            <a:avLst/>
          </a:prstGeom>
          <a:noFill/>
        </p:spPr>
        <p:txBody>
          <a:bodyPr wrap="square" rtlCol="0">
            <a:spAutoFit/>
          </a:bodyPr>
          <a:lstStyle/>
          <a:p>
            <a:r>
              <a:rPr lang="en-US" sz="2000" b="1" dirty="0"/>
              <a:t>Environment &amp; Resource Efficiency</a:t>
            </a:r>
          </a:p>
        </p:txBody>
      </p:sp>
      <p:pic>
        <p:nvPicPr>
          <p:cNvPr id="6" name="Picture 5">
            <a:extLst>
              <a:ext uri="{FF2B5EF4-FFF2-40B4-BE49-F238E27FC236}">
                <a16:creationId xmlns:a16="http://schemas.microsoft.com/office/drawing/2014/main" id="{D73D53BC-FCD6-B0FB-0B1C-239A89137163}"/>
              </a:ext>
            </a:extLst>
          </p:cNvPr>
          <p:cNvPicPr>
            <a:picLocks noChangeAspect="1"/>
          </p:cNvPicPr>
          <p:nvPr/>
        </p:nvPicPr>
        <p:blipFill>
          <a:blip r:embed="rId3"/>
          <a:srcRect l="5053"/>
          <a:stretch>
            <a:fillRect/>
          </a:stretch>
        </p:blipFill>
        <p:spPr>
          <a:xfrm>
            <a:off x="41433" y="992116"/>
            <a:ext cx="5277016" cy="2808584"/>
          </a:xfrm>
          <a:prstGeom prst="rect">
            <a:avLst/>
          </a:prstGeom>
        </p:spPr>
      </p:pic>
      <p:pic>
        <p:nvPicPr>
          <p:cNvPr id="11" name="Picture 10">
            <a:extLst>
              <a:ext uri="{FF2B5EF4-FFF2-40B4-BE49-F238E27FC236}">
                <a16:creationId xmlns:a16="http://schemas.microsoft.com/office/drawing/2014/main" id="{37365134-4990-B9D5-03EC-406771C62AE5}"/>
              </a:ext>
            </a:extLst>
          </p:cNvPr>
          <p:cNvPicPr>
            <a:picLocks noChangeAspect="1"/>
          </p:cNvPicPr>
          <p:nvPr/>
        </p:nvPicPr>
        <p:blipFill>
          <a:blip r:embed="rId4"/>
          <a:srcRect r="11769"/>
          <a:stretch>
            <a:fillRect/>
          </a:stretch>
        </p:blipFill>
        <p:spPr>
          <a:xfrm>
            <a:off x="41433" y="4000183"/>
            <a:ext cx="5202556" cy="2664777"/>
          </a:xfrm>
          <a:prstGeom prst="rect">
            <a:avLst/>
          </a:prstGeom>
        </p:spPr>
      </p:pic>
      <p:pic>
        <p:nvPicPr>
          <p:cNvPr id="13" name="Picture 12">
            <a:extLst>
              <a:ext uri="{FF2B5EF4-FFF2-40B4-BE49-F238E27FC236}">
                <a16:creationId xmlns:a16="http://schemas.microsoft.com/office/drawing/2014/main" id="{E5024D48-4D19-6BC9-F1DA-83C4F84B6067}"/>
              </a:ext>
            </a:extLst>
          </p:cNvPr>
          <p:cNvPicPr>
            <a:picLocks noChangeAspect="1"/>
          </p:cNvPicPr>
          <p:nvPr/>
        </p:nvPicPr>
        <p:blipFill>
          <a:blip r:embed="rId5"/>
          <a:stretch>
            <a:fillRect/>
          </a:stretch>
        </p:blipFill>
        <p:spPr>
          <a:xfrm>
            <a:off x="5798433" y="992116"/>
            <a:ext cx="5143946" cy="2808584"/>
          </a:xfrm>
          <a:prstGeom prst="rect">
            <a:avLst/>
          </a:prstGeom>
        </p:spPr>
      </p:pic>
      <p:sp>
        <p:nvSpPr>
          <p:cNvPr id="14" name="TextBox 13">
            <a:extLst>
              <a:ext uri="{FF2B5EF4-FFF2-40B4-BE49-F238E27FC236}">
                <a16:creationId xmlns:a16="http://schemas.microsoft.com/office/drawing/2014/main" id="{E2F9F75A-7FD2-7458-2F76-DBA802E8CCB6}"/>
              </a:ext>
            </a:extLst>
          </p:cNvPr>
          <p:cNvSpPr txBox="1"/>
          <p:nvPr/>
        </p:nvSpPr>
        <p:spPr>
          <a:xfrm>
            <a:off x="5768428" y="4165812"/>
            <a:ext cx="6382139" cy="830997"/>
          </a:xfrm>
          <a:prstGeom prst="rect">
            <a:avLst/>
          </a:prstGeom>
          <a:noFill/>
        </p:spPr>
        <p:txBody>
          <a:bodyPr wrap="square" rtlCol="0">
            <a:spAutoFit/>
          </a:bodyPr>
          <a:lstStyle/>
          <a:p>
            <a:r>
              <a:rPr lang="en-US" sz="1600" dirty="0"/>
              <a:t>Kharif combines higher rainfall and soil moisture with stronger yield and water efficiency, whereas Zaid uses more water but achieves lower water efficiency.</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260399" y="193040"/>
            <a:ext cx="770288" cy="263892"/>
          </a:xfrm>
        </p:spPr>
        <p:txBody>
          <a:bodyPr>
            <a:noAutofit/>
          </a:bodyPr>
          <a:lstStyle/>
          <a:p>
            <a:r>
              <a:rPr lang="en-GB" sz="1000" b="0" dirty="0"/>
              <a:t>RESULTS </a:t>
            </a:r>
            <a:endParaRPr lang="en-IN" sz="1000" b="0"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980B8506-6049-1746-D784-719237B137BE}"/>
              </a:ext>
            </a:extLst>
          </p:cNvPr>
          <p:cNvSpPr txBox="1"/>
          <p:nvPr/>
        </p:nvSpPr>
        <p:spPr>
          <a:xfrm>
            <a:off x="3750905" y="193040"/>
            <a:ext cx="4049487"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Crop &amp; Regional Analysis</a:t>
            </a:r>
          </a:p>
        </p:txBody>
      </p:sp>
      <p:pic>
        <p:nvPicPr>
          <p:cNvPr id="6" name="Picture 5">
            <a:extLst>
              <a:ext uri="{FF2B5EF4-FFF2-40B4-BE49-F238E27FC236}">
                <a16:creationId xmlns:a16="http://schemas.microsoft.com/office/drawing/2014/main" id="{767BD413-4BB1-88B4-541D-D4C8D65F03FF}"/>
              </a:ext>
            </a:extLst>
          </p:cNvPr>
          <p:cNvPicPr>
            <a:picLocks noChangeAspect="1"/>
          </p:cNvPicPr>
          <p:nvPr/>
        </p:nvPicPr>
        <p:blipFill>
          <a:blip r:embed="rId3"/>
          <a:srcRect l="6800" r="8935"/>
          <a:stretch>
            <a:fillRect/>
          </a:stretch>
        </p:blipFill>
        <p:spPr>
          <a:xfrm>
            <a:off x="232406" y="1608410"/>
            <a:ext cx="5209654" cy="4055024"/>
          </a:xfrm>
          <a:prstGeom prst="rect">
            <a:avLst/>
          </a:prstGeom>
        </p:spPr>
      </p:pic>
      <p:pic>
        <p:nvPicPr>
          <p:cNvPr id="11" name="Picture 10">
            <a:extLst>
              <a:ext uri="{FF2B5EF4-FFF2-40B4-BE49-F238E27FC236}">
                <a16:creationId xmlns:a16="http://schemas.microsoft.com/office/drawing/2014/main" id="{62FE51F9-8B46-BC50-F66A-D02C2F36DAB8}"/>
              </a:ext>
            </a:extLst>
          </p:cNvPr>
          <p:cNvPicPr>
            <a:picLocks noChangeAspect="1"/>
          </p:cNvPicPr>
          <p:nvPr/>
        </p:nvPicPr>
        <p:blipFill>
          <a:blip r:embed="rId4"/>
          <a:srcRect l="4383" r="1357"/>
          <a:stretch>
            <a:fillRect/>
          </a:stretch>
        </p:blipFill>
        <p:spPr>
          <a:xfrm>
            <a:off x="5887617" y="1493984"/>
            <a:ext cx="6148874" cy="4629820"/>
          </a:xfrm>
          <a:prstGeom prst="rect">
            <a:avLst/>
          </a:prstGeom>
        </p:spPr>
      </p:pic>
      <p:sp>
        <p:nvSpPr>
          <p:cNvPr id="12" name="TextBox 11">
            <a:extLst>
              <a:ext uri="{FF2B5EF4-FFF2-40B4-BE49-F238E27FC236}">
                <a16:creationId xmlns:a16="http://schemas.microsoft.com/office/drawing/2014/main" id="{0BABA50E-317B-0EC1-AE08-9F5975EF45AB}"/>
              </a:ext>
            </a:extLst>
          </p:cNvPr>
          <p:cNvSpPr txBox="1"/>
          <p:nvPr/>
        </p:nvSpPr>
        <p:spPr>
          <a:xfrm>
            <a:off x="232406" y="5970808"/>
            <a:ext cx="8034516" cy="646331"/>
          </a:xfrm>
          <a:prstGeom prst="rect">
            <a:avLst/>
          </a:prstGeom>
          <a:noFill/>
        </p:spPr>
        <p:txBody>
          <a:bodyPr wrap="square" rtlCol="0">
            <a:spAutoFit/>
          </a:bodyPr>
          <a:lstStyle/>
          <a:p>
            <a:r>
              <a:rPr lang="en-US" dirty="0"/>
              <a:t>Agricultural performance varies significantly by crop, season and region, indicating the importance of crop-season and regional suitability.</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0" y="67076"/>
            <a:ext cx="900916" cy="251927"/>
          </a:xfrm>
        </p:spPr>
        <p:txBody>
          <a:bodyPr>
            <a:noAutofit/>
          </a:bodyPr>
          <a:lstStyle/>
          <a:p>
            <a:r>
              <a:rPr lang="en-GB" sz="1050"/>
              <a:t>RESULTS</a:t>
            </a:r>
            <a:endParaRPr lang="en-IN" sz="1050"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AA9C3AE-A489-1FA1-E3AB-B4AD158E3254}"/>
              </a:ext>
            </a:extLst>
          </p:cNvPr>
          <p:cNvPicPr>
            <a:picLocks noChangeAspect="1"/>
          </p:cNvPicPr>
          <p:nvPr/>
        </p:nvPicPr>
        <p:blipFill>
          <a:blip r:embed="rId3"/>
          <a:srcRect l="5697" r="1462"/>
          <a:stretch>
            <a:fillRect/>
          </a:stretch>
        </p:blipFill>
        <p:spPr>
          <a:xfrm>
            <a:off x="159857" y="1172737"/>
            <a:ext cx="5318449" cy="3314987"/>
          </a:xfrm>
          <a:prstGeom prst="rect">
            <a:avLst/>
          </a:prstGeom>
        </p:spPr>
      </p:pic>
      <p:pic>
        <p:nvPicPr>
          <p:cNvPr id="9" name="Picture 8">
            <a:extLst>
              <a:ext uri="{FF2B5EF4-FFF2-40B4-BE49-F238E27FC236}">
                <a16:creationId xmlns:a16="http://schemas.microsoft.com/office/drawing/2014/main" id="{01E732E5-DA76-357F-7492-53326A4E1B8D}"/>
              </a:ext>
            </a:extLst>
          </p:cNvPr>
          <p:cNvPicPr>
            <a:picLocks noChangeAspect="1"/>
          </p:cNvPicPr>
          <p:nvPr/>
        </p:nvPicPr>
        <p:blipFill>
          <a:blip r:embed="rId4"/>
          <a:stretch>
            <a:fillRect/>
          </a:stretch>
        </p:blipFill>
        <p:spPr>
          <a:xfrm>
            <a:off x="6017474" y="1275371"/>
            <a:ext cx="5474754" cy="3314987"/>
          </a:xfrm>
          <a:prstGeom prst="rect">
            <a:avLst/>
          </a:prstGeom>
        </p:spPr>
      </p:pic>
      <p:sp>
        <p:nvSpPr>
          <p:cNvPr id="11" name="TextBox 10">
            <a:extLst>
              <a:ext uri="{FF2B5EF4-FFF2-40B4-BE49-F238E27FC236}">
                <a16:creationId xmlns:a16="http://schemas.microsoft.com/office/drawing/2014/main" id="{6B28603A-E324-D058-79EC-DD08DABA2B7D}"/>
              </a:ext>
            </a:extLst>
          </p:cNvPr>
          <p:cNvSpPr txBox="1"/>
          <p:nvPr/>
        </p:nvSpPr>
        <p:spPr>
          <a:xfrm>
            <a:off x="3153747" y="193039"/>
            <a:ext cx="4518225" cy="461665"/>
          </a:xfrm>
          <a:prstGeom prst="rect">
            <a:avLst/>
          </a:prstGeom>
          <a:noFill/>
        </p:spPr>
        <p:txBody>
          <a:bodyPr wrap="none" rtlCol="0">
            <a:spAutoFit/>
          </a:bodyPr>
          <a:lstStyle/>
          <a:p>
            <a:r>
              <a:rPr lang="en-US" sz="2400" b="1" dirty="0"/>
              <a:t>Economic &amp; Irrigation Analysis</a:t>
            </a:r>
          </a:p>
        </p:txBody>
      </p:sp>
      <p:sp>
        <p:nvSpPr>
          <p:cNvPr id="12" name="TextBox 11">
            <a:extLst>
              <a:ext uri="{FF2B5EF4-FFF2-40B4-BE49-F238E27FC236}">
                <a16:creationId xmlns:a16="http://schemas.microsoft.com/office/drawing/2014/main" id="{A864F5A0-5FB1-6CCE-C935-58A6A655F953}"/>
              </a:ext>
            </a:extLst>
          </p:cNvPr>
          <p:cNvSpPr txBox="1"/>
          <p:nvPr/>
        </p:nvSpPr>
        <p:spPr>
          <a:xfrm>
            <a:off x="414372" y="4823425"/>
            <a:ext cx="3895236" cy="923330"/>
          </a:xfrm>
          <a:prstGeom prst="rect">
            <a:avLst/>
          </a:prstGeom>
          <a:noFill/>
        </p:spPr>
        <p:txBody>
          <a:bodyPr wrap="square" rtlCol="0">
            <a:spAutoFit/>
          </a:bodyPr>
          <a:lstStyle/>
          <a:p>
            <a:pPr lvl="0"/>
            <a:r>
              <a:rPr lang="en-US" b="1" dirty="0">
                <a:latin typeface="Arial" panose="020B0604020202020204" pitchFamily="34" charset="0"/>
                <a:cs typeface="Arial" panose="020B0604020202020204" pitchFamily="34" charset="0"/>
              </a:rPr>
              <a:t>Highest yield = 6.58 </a:t>
            </a:r>
          </a:p>
          <a:p>
            <a:pPr lvl="0"/>
            <a:r>
              <a:rPr lang="en-US" b="1" dirty="0">
                <a:latin typeface="Arial" panose="020B0604020202020204" pitchFamily="34" charset="0"/>
                <a:cs typeface="Arial" panose="020B0604020202020204" pitchFamily="34" charset="0"/>
              </a:rPr>
              <a:t>Highest average profit = ₹219,626</a:t>
            </a:r>
          </a:p>
          <a:p>
            <a:endParaRPr lang="en-US" b="1"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0A79B3D8-C9EE-7F7D-8BE8-1DCBA32AAB7B}"/>
              </a:ext>
            </a:extLst>
          </p:cNvPr>
          <p:cNvSpPr txBox="1"/>
          <p:nvPr/>
        </p:nvSpPr>
        <p:spPr>
          <a:xfrm>
            <a:off x="320982" y="5825589"/>
            <a:ext cx="8328496" cy="584775"/>
          </a:xfrm>
          <a:prstGeom prst="rect">
            <a:avLst/>
          </a:prstGeom>
          <a:noFill/>
        </p:spPr>
        <p:txBody>
          <a:bodyPr wrap="square" rtlCol="0">
            <a:spAutoFit/>
          </a:bodyPr>
          <a:lstStyle/>
          <a:p>
            <a:r>
              <a:rPr lang="en-US" sz="1600" dirty="0"/>
              <a:t>Drip irrigation provides the strongest combination of yield and profitability, while Zaid shows an aggregate economic loss.</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320982" y="193040"/>
            <a:ext cx="2589757" cy="666078"/>
          </a:xfrm>
        </p:spPr>
        <p:txBody>
          <a:bodyPr>
            <a:normAutofit/>
          </a:bodyPr>
          <a:lstStyle/>
          <a:p>
            <a:r>
              <a:rPr lang="en-IN" sz="28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8DC845F7-5079-8683-3DED-4E50BFAA902C}"/>
              </a:ext>
            </a:extLst>
          </p:cNvPr>
          <p:cNvSpPr txBox="1"/>
          <p:nvPr/>
        </p:nvSpPr>
        <p:spPr>
          <a:xfrm>
            <a:off x="237419" y="1810829"/>
            <a:ext cx="6102220" cy="4247317"/>
          </a:xfrm>
          <a:prstGeom prst="rect">
            <a:avLst/>
          </a:prstGeom>
          <a:noFill/>
        </p:spPr>
        <p:txBody>
          <a:bodyPr wrap="square">
            <a:spAutoFit/>
          </a:bodyPr>
          <a:lstStyle/>
          <a:p>
            <a:r>
              <a:rPr lang="en-US" dirty="0"/>
              <a:t>                                       🌦️</a:t>
            </a:r>
          </a:p>
          <a:p>
            <a:r>
              <a:rPr lang="en-US" dirty="0"/>
              <a:t>                       Real-Time Weather Data</a:t>
            </a:r>
          </a:p>
          <a:p>
            <a:r>
              <a:rPr lang="en-US" dirty="0"/>
              <a:t>                                       │</a:t>
            </a:r>
          </a:p>
          <a:p>
            <a:r>
              <a:rPr lang="en-US" dirty="0"/>
              <a:t>                                       ▼</a:t>
            </a:r>
          </a:p>
          <a:p>
            <a:r>
              <a:rPr lang="en-US" dirty="0"/>
              <a:t>📡 ──────→  📊 Future Scope  ←────── 🤖</a:t>
            </a:r>
          </a:p>
          <a:p>
            <a:r>
              <a:rPr lang="en-US" dirty="0"/>
              <a:t>IoT &amp;                      Agriculture          Machine</a:t>
            </a:r>
          </a:p>
          <a:p>
            <a:r>
              <a:rPr lang="en-US" dirty="0"/>
              <a:t>Sensors                    Analytics            Learning</a:t>
            </a:r>
          </a:p>
          <a:p>
            <a:r>
              <a:rPr lang="en-US" dirty="0"/>
              <a:t>                                       │</a:t>
            </a:r>
          </a:p>
          <a:p>
            <a:r>
              <a:rPr lang="en-US" dirty="0"/>
              <a:t>                                       ▼</a:t>
            </a:r>
          </a:p>
          <a:p>
            <a:r>
              <a:rPr lang="en-US" dirty="0"/>
              <a:t>                                      🗺️</a:t>
            </a:r>
          </a:p>
          <a:p>
            <a:r>
              <a:rPr lang="en-US" dirty="0"/>
              <a:t>                       GIS &amp; Regional Analysis</a:t>
            </a:r>
          </a:p>
          <a:p>
            <a:r>
              <a:rPr lang="en-US" dirty="0"/>
              <a:t>                                       │</a:t>
            </a:r>
          </a:p>
          <a:p>
            <a:r>
              <a:rPr lang="en-US" dirty="0"/>
              <a:t>                                       ▼</a:t>
            </a:r>
          </a:p>
          <a:p>
            <a:r>
              <a:rPr lang="en-US" dirty="0"/>
              <a:t>                                      📱</a:t>
            </a:r>
          </a:p>
          <a:p>
            <a:r>
              <a:rPr lang="en-US" dirty="0"/>
              <a:t>                        Farmer Decision Support</a:t>
            </a:r>
          </a:p>
        </p:txBody>
      </p:sp>
      <p:sp>
        <p:nvSpPr>
          <p:cNvPr id="10" name="TextBox 9">
            <a:extLst>
              <a:ext uri="{FF2B5EF4-FFF2-40B4-BE49-F238E27FC236}">
                <a16:creationId xmlns:a16="http://schemas.microsoft.com/office/drawing/2014/main" id="{435188C5-D23B-3AAD-6133-FB253F5F52ED}"/>
              </a:ext>
            </a:extLst>
          </p:cNvPr>
          <p:cNvSpPr txBox="1"/>
          <p:nvPr/>
        </p:nvSpPr>
        <p:spPr>
          <a:xfrm>
            <a:off x="6583067" y="2190100"/>
            <a:ext cx="4109816" cy="4770537"/>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 Real-Time Weather Integration</a:t>
            </a: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Include real-time weather data to improve seasonal forecasting and agricultural planning.</a:t>
            </a:r>
          </a:p>
          <a:p>
            <a:r>
              <a:rPr lang="en-US" sz="1600" dirty="0">
                <a:latin typeface="Arial" panose="020B0604020202020204" pitchFamily="34" charset="0"/>
                <a:cs typeface="Arial" panose="020B0604020202020204" pitchFamily="34" charset="0"/>
              </a:rPr>
              <a:t>📡 IoT and Sensor Data</a:t>
            </a: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Use soil, moisture and water sensors for continuous monitoring of farm conditions.</a:t>
            </a:r>
          </a:p>
          <a:p>
            <a:r>
              <a:rPr lang="en-US" sz="1600" dirty="0">
                <a:latin typeface="Arial" panose="020B0604020202020204" pitchFamily="34" charset="0"/>
                <a:cs typeface="Arial" panose="020B0604020202020204" pitchFamily="34" charset="0"/>
              </a:rPr>
              <a:t>🤖 Machine Learning Models</a:t>
            </a: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Develop predictive models for crop yield, profitability and agricultural risk.</a:t>
            </a:r>
          </a:p>
          <a:p>
            <a:r>
              <a:rPr lang="en-US" sz="1600" dirty="0">
                <a:latin typeface="Arial" panose="020B0604020202020204" pitchFamily="34" charset="0"/>
                <a:cs typeface="Arial" panose="020B0604020202020204" pitchFamily="34" charset="0"/>
              </a:rPr>
              <a:t>🗺️ GIS-Based Regional Analysis</a:t>
            </a: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Use geographical data to identify region-specific crop and seasonal performance patterns.</a:t>
            </a:r>
          </a:p>
          <a:p>
            <a:r>
              <a:rPr lang="en-US" sz="1600" dirty="0">
                <a:latin typeface="Arial" panose="020B0604020202020204" pitchFamily="34" charset="0"/>
                <a:cs typeface="Arial" panose="020B0604020202020204" pitchFamily="34" charset="0"/>
              </a:rPr>
              <a:t>📱 Farmer Decision Support System</a:t>
            </a: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Develop a dashboard or application to provide data-driven recommendations for crop and resource planning.</a:t>
            </a:r>
          </a:p>
          <a:p>
            <a:endParaRPr lang="en-US" sz="16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0D1CF489-4C84-D924-460B-F4CCC7FD0D03}"/>
              </a:ext>
            </a:extLst>
          </p:cNvPr>
          <p:cNvSpPr txBox="1"/>
          <p:nvPr/>
        </p:nvSpPr>
        <p:spPr>
          <a:xfrm>
            <a:off x="237419" y="881344"/>
            <a:ext cx="10996638" cy="646331"/>
          </a:xfrm>
          <a:prstGeom prst="rect">
            <a:avLst/>
          </a:prstGeom>
          <a:noFill/>
        </p:spPr>
        <p:txBody>
          <a:bodyPr wrap="square" rtlCol="0">
            <a:spAutoFit/>
          </a:bodyPr>
          <a:lstStyle/>
          <a:p>
            <a:r>
              <a:rPr lang="en-US" dirty="0"/>
              <a:t>This study can be extended by integrating advanced technologies and additional data sources to support more accurate and real-time agricultural decision-making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369332"/>
          </a:xfrm>
          <a:prstGeom prst="rect">
            <a:avLst/>
          </a:prstGeom>
          <a:noFill/>
        </p:spPr>
        <p:txBody>
          <a:bodyPr wrap="square">
            <a:spAutoFit/>
          </a:bodyPr>
          <a:lstStyle/>
          <a:p>
            <a:r>
              <a:rPr lang="en-US" dirty="0">
                <a:hlinkClick r:id="rId3"/>
              </a:rPr>
              <a:t>ayush7518/seasonal-agricultural-performance-analysis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16492" y="1970791"/>
            <a:ext cx="11340000" cy="700114"/>
          </a:xfrm>
          <a:prstGeom prst="rect">
            <a:avLst/>
          </a:prstGeom>
        </p:spPr>
        <p:txBody>
          <a:bodyPr anchor="ctr">
            <a:noAutofit/>
          </a:bodyPr>
          <a:lstStyle/>
          <a:p>
            <a:pPr algn="ctr"/>
            <a:r>
              <a:rPr lang="en-US" sz="4400" b="1" dirty="0">
                <a:solidFill>
                  <a:schemeClr val="tx1"/>
                </a:solidFill>
                <a:latin typeface="Algerian" panose="04020705040A02060702" pitchFamily="82"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1889</TotalTime>
  <Words>854</Words>
  <Application>Microsoft Office PowerPoint</Application>
  <PresentationFormat>Widescreen</PresentationFormat>
  <Paragraphs>86</Paragraphs>
  <Slides>13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Algerian</vt:lpstr>
      <vt:lpstr>Arial</vt:lpstr>
      <vt:lpstr>Calibri</vt:lpstr>
      <vt:lpstr>Times New Roman</vt:lpstr>
      <vt:lpstr>Trebuchet MS</vt:lpstr>
      <vt:lpstr>Wingdings</vt:lpstr>
      <vt:lpstr>Wingdings 3</vt:lpstr>
      <vt:lpstr>Facet</vt:lpstr>
      <vt:lpstr>Project Title -</vt:lpstr>
      <vt:lpstr>PROBLEM  STATEMENT :-</vt:lpstr>
      <vt:lpstr>Project Description :-</vt:lpstr>
      <vt:lpstr>WHO ARE THE END USERS?</vt:lpstr>
      <vt:lpstr>Technology Used</vt:lpstr>
      <vt:lpstr>RESULTS </vt:lpstr>
      <vt:lpstr>Seasonal Performance </vt:lpstr>
      <vt:lpstr>RESULTS</vt:lpstr>
      <vt:lpstr>RESULTS </vt:lpstr>
      <vt:lpstr>RESULTS</vt:lpstr>
      <vt:lpstr>Future scope</vt:lpstr>
      <vt:lpstr>GitHub Link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AYUSH SHARMA</cp:lastModifiedBy>
  <cp:revision>101</cp:revision>
  <dcterms:created xsi:type="dcterms:W3CDTF">2021-07-11T13:13:15Z</dcterms:created>
  <dcterms:modified xsi:type="dcterms:W3CDTF">2026-09-14T18:47:10Z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